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2.png"/><Relationship Id="rId4" Type="http://schemas.openxmlformats.org/officeDocument/2006/relationships/image" Target="../media/image-6-2.png"/><Relationship Id="rId5" Type="http://schemas.openxmlformats.org/officeDocument/2006/relationships/image" Target="../media/image-6-2.png"/><Relationship Id="rId6" Type="http://schemas.openxmlformats.org/officeDocument/2006/relationships/image" Target="../media/image-6-2.png"/><Relationship Id="rId7" Type="http://schemas.openxmlformats.org/officeDocument/2006/relationships/image" Target="../media/image-6-2.png"/><Relationship Id="rId8" Type="http://schemas.openxmlformats.org/officeDocument/2006/relationships/image" Target="../media/image-6-2.png"/><Relationship Id="rId9" Type="http://schemas.openxmlformats.org/officeDocument/2006/relationships/image" Target="../media/image-6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966960" y="-1463040"/>
            <a:ext cx="4754880" cy="4754880"/>
          </a:xfrm>
          <a:prstGeom prst="ellipse">
            <a:avLst/>
          </a:prstGeom>
          <a:solidFill>
            <a:srgbClr val="141B49"/>
          </a:solidFill>
          <a:ln/>
        </p:spPr>
      </p:sp>
      <p:sp>
        <p:nvSpPr>
          <p:cNvPr id="3" name="Shape 1"/>
          <p:cNvSpPr/>
          <p:nvPr/>
        </p:nvSpPr>
        <p:spPr>
          <a:xfrm>
            <a:off x="11430000" y="5120640"/>
            <a:ext cx="2743200" cy="2743200"/>
          </a:xfrm>
          <a:prstGeom prst="ellipse">
            <a:avLst/>
          </a:prstGeom>
          <a:solidFill>
            <a:srgbClr val="028090">
              <a:alpha val="4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280160" y="4937760"/>
            <a:ext cx="3291840" cy="3291840"/>
          </a:xfrm>
          <a:prstGeom prst="ellipse">
            <a:avLst/>
          </a:prstGeom>
          <a:solidFill>
            <a:srgbClr val="028090">
              <a:alpha val="3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960120" y="960120"/>
            <a:ext cx="914400" cy="91440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_project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88720" y="1188720"/>
            <a:ext cx="457200" cy="4572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514600"/>
            <a:ext cx="10515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spc="300" kern="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ANALYSIS PORTFOLIO PROJECT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822960" y="2880360"/>
            <a:ext cx="10515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AI-Assisted Financial Risk Classification</a:t>
            </a:r>
            <a:endParaRPr lang="en-US" sz="4000" dirty="0"/>
          </a:p>
          <a:p>
            <a:pPr algn="l" indent="0" marL="0">
              <a:lnSpc>
                <a:spcPct val="108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&amp; Process Automation</a:t>
            </a:r>
            <a:endParaRPr lang="en-US" sz="4000" dirty="0"/>
          </a:p>
        </p:txBody>
      </p:sp>
      <p:sp>
        <p:nvSpPr>
          <p:cNvPr id="9" name="Text 6"/>
          <p:cNvSpPr/>
          <p:nvPr/>
        </p:nvSpPr>
        <p:spPr>
          <a:xfrm>
            <a:off x="822960" y="5623560"/>
            <a:ext cx="5486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Suprit Kumar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300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Analyst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Problem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Challenges in the current financial risk assessment process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0936" y="17739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_project/icons/clipboar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6999" y="190999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27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Applicant Data Validation</a:t>
            </a:r>
            <a:endParaRPr lang="en-US" sz="1350" dirty="0"/>
          </a:p>
        </p:txBody>
      </p:sp>
      <p:sp>
        <p:nvSpPr>
          <p:cNvPr id="8" name="Text 5"/>
          <p:cNvSpPr/>
          <p:nvPr/>
        </p:nvSpPr>
        <p:spPr>
          <a:xfrm>
            <a:off x="1325880" y="1874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Reviewers manually verify applicant data before assessment can begin.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263640" y="1417320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6437376" y="177393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1" name="Image 1" descr="/home/claude/pptx_project/icons/refresh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73439" y="1909999"/>
            <a:ext cx="294803" cy="294803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32320" y="1527048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Repetitive Risk Assessment Activities</a:t>
            </a:r>
            <a:endParaRPr lang="en-US" sz="1350" dirty="0"/>
          </a:p>
        </p:txBody>
      </p:sp>
      <p:sp>
        <p:nvSpPr>
          <p:cNvPr id="13" name="Text 9"/>
          <p:cNvSpPr/>
          <p:nvPr/>
        </p:nvSpPr>
        <p:spPr>
          <a:xfrm>
            <a:off x="7132320" y="1874520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Analysts repeat the same manual evaluation steps on every application.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57200" y="2862072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30936" y="321868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16" name="Image 2" descr="/home/claude/pptx_project/icons/lay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66999" y="3354751"/>
            <a:ext cx="294803" cy="294803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Difficulty Prioritizing Applications</a:t>
            </a:r>
            <a:endParaRPr lang="en-US" sz="1350" dirty="0"/>
          </a:p>
        </p:txBody>
      </p:sp>
      <p:sp>
        <p:nvSpPr>
          <p:cNvPr id="18" name="Text 13"/>
          <p:cNvSpPr/>
          <p:nvPr/>
        </p:nvSpPr>
        <p:spPr>
          <a:xfrm>
            <a:off x="1325880" y="331927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consistent way to identify which applications need attention first.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263640" y="2862072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6437376" y="3218688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1" name="Image 3" descr="/home/claude/pptx_project/icons/clo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573439" y="3354751"/>
            <a:ext cx="294803" cy="294803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32320" y="2971800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Processing Delays</a:t>
            </a:r>
            <a:endParaRPr lang="en-US" sz="1350" dirty="0"/>
          </a:p>
        </p:txBody>
      </p:sp>
      <p:sp>
        <p:nvSpPr>
          <p:cNvPr id="23" name="Text 17"/>
          <p:cNvSpPr/>
          <p:nvPr/>
        </p:nvSpPr>
        <p:spPr>
          <a:xfrm>
            <a:off x="7132320" y="3319272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handoffs and reviews extend overall turnaround time.</a:t>
            </a:r>
            <a:endParaRPr lang="en-US" sz="1050" dirty="0"/>
          </a:p>
        </p:txBody>
      </p:sp>
      <p:sp>
        <p:nvSpPr>
          <p:cNvPr id="24" name="Shape 18"/>
          <p:cNvSpPr/>
          <p:nvPr/>
        </p:nvSpPr>
        <p:spPr>
          <a:xfrm>
            <a:off x="457200" y="4306824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630936" y="46634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26" name="Image 4" descr="/home/claude/pptx_project/icons/alert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66999" y="4799503"/>
            <a:ext cx="294803" cy="294803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325880" y="44165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Assessment</a:t>
            </a:r>
            <a:endParaRPr lang="en-US" sz="1350" dirty="0"/>
          </a:p>
        </p:txBody>
      </p:sp>
      <p:sp>
        <p:nvSpPr>
          <p:cNvPr id="28" name="Text 21"/>
          <p:cNvSpPr/>
          <p:nvPr/>
        </p:nvSpPr>
        <p:spPr>
          <a:xfrm>
            <a:off x="1325880" y="476402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Outcomes vary depending on the reviewer and available time.</a:t>
            </a:r>
            <a:endParaRPr lang="en-US" sz="1050" dirty="0"/>
          </a:p>
        </p:txBody>
      </p:sp>
      <p:sp>
        <p:nvSpPr>
          <p:cNvPr id="29" name="Shape 22"/>
          <p:cNvSpPr/>
          <p:nvPr/>
        </p:nvSpPr>
        <p:spPr>
          <a:xfrm>
            <a:off x="6263640" y="4306824"/>
            <a:ext cx="5440680" cy="1280160"/>
          </a:xfrm>
          <a:prstGeom prst="roundRect">
            <a:avLst>
              <a:gd name="adj" fmla="val 5714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30" name="Shape 23"/>
          <p:cNvSpPr/>
          <p:nvPr/>
        </p:nvSpPr>
        <p:spPr>
          <a:xfrm>
            <a:off x="6437376" y="4663440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5" descr="/home/claude/pptx_project/icons/mail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73439" y="4799503"/>
            <a:ext cx="294803" cy="294803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7132320" y="441655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Communication &amp; Tracking</a:t>
            </a:r>
            <a:endParaRPr lang="en-US" sz="1350" dirty="0"/>
          </a:p>
        </p:txBody>
      </p:sp>
      <p:sp>
        <p:nvSpPr>
          <p:cNvPr id="33" name="Text 25"/>
          <p:cNvSpPr/>
          <p:nvPr/>
        </p:nvSpPr>
        <p:spPr>
          <a:xfrm>
            <a:off x="7132320" y="4764024"/>
            <a:ext cx="4389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updates and follow-ups are tracked outside a unified system.</a:t>
            </a:r>
            <a:endParaRPr lang="en-US" sz="1050" dirty="0"/>
          </a:p>
        </p:txBody>
      </p:sp>
      <p:sp>
        <p:nvSpPr>
          <p:cNvPr id="34" name="Shape 26"/>
          <p:cNvSpPr/>
          <p:nvPr/>
        </p:nvSpPr>
        <p:spPr>
          <a:xfrm>
            <a:off x="457200" y="5742432"/>
            <a:ext cx="11274552" cy="658368"/>
          </a:xfrm>
          <a:prstGeom prst="roundRect">
            <a:avLst>
              <a:gd name="adj" fmla="val 12500"/>
            </a:avLst>
          </a:prstGeom>
          <a:solidFill>
            <a:srgbClr val="1E2761"/>
          </a:solidFill>
          <a:ln/>
        </p:spPr>
      </p:sp>
      <p:sp>
        <p:nvSpPr>
          <p:cNvPr id="35" name="Shape 27"/>
          <p:cNvSpPr/>
          <p:nvPr/>
        </p:nvSpPr>
        <p:spPr>
          <a:xfrm>
            <a:off x="731520" y="5843016"/>
            <a:ext cx="457200" cy="457200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36" name="Image 6" descr="/home/claude/pptx_project/icons/target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4390" y="5945886"/>
            <a:ext cx="251460" cy="25146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1371600" y="5742432"/>
            <a:ext cx="101498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15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Objective:  </a:t>
            </a:r>
            <a:pPr indent="0" marL="0">
              <a:lnSpc>
                <a:spcPct val="110000"/>
              </a:lnSpc>
              <a:buNone/>
            </a:pPr>
            <a:r>
              <a:rPr lang="en-US" sz="11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 financial risk screening efficiency through AI-assisted analysis and process automation while maintaining human oversight for final decisions.</a:t>
            </a:r>
            <a:endParaRPr lang="en-US" sz="1150" dirty="0"/>
          </a:p>
        </p:txBody>
      </p:sp>
      <p:sp>
        <p:nvSpPr>
          <p:cNvPr id="38" name="Text 29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Financial Risk Classification &amp; Process Automation</a:t>
            </a:r>
            <a:endParaRPr lang="en-US" sz="900" dirty="0"/>
          </a:p>
        </p:txBody>
      </p:sp>
      <p:sp>
        <p:nvSpPr>
          <p:cNvPr id="39" name="Text 30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47472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Proposed AI &amp; Automation Solution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04672"/>
            <a:ext cx="9144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end-to-end workflow — not yet built or deployed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325880"/>
            <a:ext cx="239572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325880"/>
            <a:ext cx="310896" cy="868680"/>
          </a:xfrm>
          <a:prstGeom prst="roundRect">
            <a:avLst>
              <a:gd name="adj" fmla="val 20588"/>
            </a:avLst>
          </a:prstGeom>
          <a:solidFill>
            <a:srgbClr val="028090"/>
          </a:solidFill>
          <a:ln/>
        </p:spPr>
      </p:sp>
      <p:sp>
        <p:nvSpPr>
          <p:cNvPr id="6" name="Text 4"/>
          <p:cNvSpPr/>
          <p:nvPr/>
        </p:nvSpPr>
        <p:spPr>
          <a:xfrm>
            <a:off x="457200" y="132588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768096" y="132588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3127248" y="1325880"/>
            <a:ext cx="239572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127248" y="1325880"/>
            <a:ext cx="310896" cy="868680"/>
          </a:xfrm>
          <a:prstGeom prst="roundRect">
            <a:avLst>
              <a:gd name="adj" fmla="val 20588"/>
            </a:avLst>
          </a:prstGeom>
          <a:solidFill>
            <a:srgbClr val="028090"/>
          </a:solidFill>
          <a:ln/>
        </p:spPr>
      </p:sp>
      <p:sp>
        <p:nvSpPr>
          <p:cNvPr id="10" name="Text 8"/>
          <p:cNvSpPr/>
          <p:nvPr/>
        </p:nvSpPr>
        <p:spPr>
          <a:xfrm>
            <a:off x="3127248" y="132588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3438144" y="132588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Data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797296" y="1325880"/>
            <a:ext cx="239572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5797296" y="1325880"/>
            <a:ext cx="310896" cy="868680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797296" y="132588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6108192" y="132588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Risk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Assessment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8467344" y="1325880"/>
            <a:ext cx="239572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9050">
            <a:solidFill>
              <a:srgbClr val="1E2761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467344" y="1325880"/>
            <a:ext cx="310896" cy="868680"/>
          </a:xfrm>
          <a:prstGeom prst="roundRect">
            <a:avLst>
              <a:gd name="adj" fmla="val 20588"/>
            </a:avLst>
          </a:prstGeom>
          <a:solidFill>
            <a:srgbClr val="1E2761"/>
          </a:solidFill>
          <a:ln/>
        </p:spPr>
      </p:sp>
      <p:sp>
        <p:nvSpPr>
          <p:cNvPr id="18" name="Text 16"/>
          <p:cNvSpPr/>
          <p:nvPr/>
        </p:nvSpPr>
        <p:spPr>
          <a:xfrm>
            <a:off x="8467344" y="1325880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8778240" y="1325880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Classification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467344" y="2395728"/>
            <a:ext cx="239572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8467344" y="2395728"/>
            <a:ext cx="310896" cy="868680"/>
          </a:xfrm>
          <a:prstGeom prst="roundRect">
            <a:avLst>
              <a:gd name="adj" fmla="val 20588"/>
            </a:avLst>
          </a:prstGeom>
          <a:solidFill>
            <a:srgbClr val="028090"/>
          </a:solidFill>
          <a:ln/>
        </p:spPr>
      </p:sp>
      <p:sp>
        <p:nvSpPr>
          <p:cNvPr id="22" name="Text 20"/>
          <p:cNvSpPr/>
          <p:nvPr/>
        </p:nvSpPr>
        <p:spPr>
          <a:xfrm>
            <a:off x="8467344" y="2395728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778240" y="2395728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Risk-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Based Routing</a:t>
            </a:r>
            <a:endParaRPr lang="en-US" sz="1050" dirty="0"/>
          </a:p>
        </p:txBody>
      </p:sp>
      <p:sp>
        <p:nvSpPr>
          <p:cNvPr id="24" name="Shape 22"/>
          <p:cNvSpPr/>
          <p:nvPr/>
        </p:nvSpPr>
        <p:spPr>
          <a:xfrm>
            <a:off x="5797296" y="2395728"/>
            <a:ext cx="239572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9050">
            <a:solidFill>
              <a:srgbClr val="5C6B84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797296" y="2395728"/>
            <a:ext cx="310896" cy="868680"/>
          </a:xfrm>
          <a:prstGeom prst="roundRect">
            <a:avLst>
              <a:gd name="adj" fmla="val 20588"/>
            </a:avLst>
          </a:prstGeom>
          <a:solidFill>
            <a:srgbClr val="5C6B84"/>
          </a:solidFill>
          <a:ln/>
        </p:spPr>
      </p:sp>
      <p:sp>
        <p:nvSpPr>
          <p:cNvPr id="26" name="Text 24"/>
          <p:cNvSpPr/>
          <p:nvPr/>
        </p:nvSpPr>
        <p:spPr>
          <a:xfrm>
            <a:off x="5797296" y="2395728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300" dirty="0"/>
          </a:p>
        </p:txBody>
      </p:sp>
      <p:sp>
        <p:nvSpPr>
          <p:cNvPr id="27" name="Text 25"/>
          <p:cNvSpPr/>
          <p:nvPr/>
        </p:nvSpPr>
        <p:spPr>
          <a:xfrm>
            <a:off x="6108192" y="2395728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Officer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</a:t>
            </a:r>
            <a:endParaRPr lang="en-US" sz="1050" dirty="0"/>
          </a:p>
        </p:txBody>
      </p:sp>
      <p:sp>
        <p:nvSpPr>
          <p:cNvPr id="28" name="Shape 26"/>
          <p:cNvSpPr/>
          <p:nvPr/>
        </p:nvSpPr>
        <p:spPr>
          <a:xfrm>
            <a:off x="3127248" y="2395728"/>
            <a:ext cx="239572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9050">
            <a:solidFill>
              <a:srgbClr val="5C6B84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3127248" y="2395728"/>
            <a:ext cx="310896" cy="868680"/>
          </a:xfrm>
          <a:prstGeom prst="roundRect">
            <a:avLst>
              <a:gd name="adj" fmla="val 20588"/>
            </a:avLst>
          </a:prstGeom>
          <a:solidFill>
            <a:srgbClr val="5C6B84"/>
          </a:solidFill>
          <a:ln/>
        </p:spPr>
      </p:sp>
      <p:sp>
        <p:nvSpPr>
          <p:cNvPr id="30" name="Text 28"/>
          <p:cNvSpPr/>
          <p:nvPr/>
        </p:nvSpPr>
        <p:spPr>
          <a:xfrm>
            <a:off x="3127248" y="2395728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3438144" y="2395728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457200" y="2395728"/>
            <a:ext cx="2395728" cy="868680"/>
          </a:xfrm>
          <a:prstGeom prst="roundRect">
            <a:avLst>
              <a:gd name="adj" fmla="val 7368"/>
            </a:avLst>
          </a:prstGeom>
          <a:solidFill>
            <a:srgbClr val="FFFFFF"/>
          </a:solidFill>
          <a:ln w="19050">
            <a:solidFill>
              <a:srgbClr val="02809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457200" y="2395728"/>
            <a:ext cx="310896" cy="868680"/>
          </a:xfrm>
          <a:prstGeom prst="roundRect">
            <a:avLst>
              <a:gd name="adj" fmla="val 20588"/>
            </a:avLst>
          </a:prstGeom>
          <a:solidFill>
            <a:srgbClr val="028090"/>
          </a:solidFill>
          <a:ln/>
        </p:spPr>
      </p:sp>
      <p:sp>
        <p:nvSpPr>
          <p:cNvPr id="34" name="Text 32"/>
          <p:cNvSpPr/>
          <p:nvPr/>
        </p:nvSpPr>
        <p:spPr>
          <a:xfrm>
            <a:off x="457200" y="2395728"/>
            <a:ext cx="310896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300" dirty="0"/>
          </a:p>
        </p:txBody>
      </p:sp>
      <p:sp>
        <p:nvSpPr>
          <p:cNvPr id="35" name="Text 33"/>
          <p:cNvSpPr/>
          <p:nvPr/>
        </p:nvSpPr>
        <p:spPr>
          <a:xfrm>
            <a:off x="768096" y="2395728"/>
            <a:ext cx="2084832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Notification</a:t>
            </a:r>
            <a:endParaRPr lang="en-US" sz="1050" dirty="0"/>
          </a:p>
          <a:p>
            <a:pPr algn="ctr" indent="0" marL="0">
              <a:lnSpc>
                <a:spcPct val="100000"/>
              </a:lnSpc>
              <a:buNone/>
            </a:pPr>
            <a:r>
              <a:rPr lang="en-US" sz="10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Audit</a:t>
            </a:r>
            <a:endParaRPr lang="en-US" sz="1050" dirty="0"/>
          </a:p>
        </p:txBody>
      </p:sp>
      <p:sp>
        <p:nvSpPr>
          <p:cNvPr id="36" name="Shape 34"/>
          <p:cNvSpPr/>
          <p:nvPr/>
        </p:nvSpPr>
        <p:spPr>
          <a:xfrm>
            <a:off x="2871216" y="1677924"/>
            <a:ext cx="237744" cy="164592"/>
          </a:xfrm>
          <a:prstGeom prst="rightArrow">
            <a:avLst/>
          </a:prstGeom>
          <a:solidFill>
            <a:srgbClr val="6B7688"/>
          </a:solidFill>
          <a:ln/>
        </p:spPr>
      </p:sp>
      <p:sp>
        <p:nvSpPr>
          <p:cNvPr id="37" name="Shape 35"/>
          <p:cNvSpPr/>
          <p:nvPr/>
        </p:nvSpPr>
        <p:spPr>
          <a:xfrm>
            <a:off x="5541264" y="1677924"/>
            <a:ext cx="237744" cy="164592"/>
          </a:xfrm>
          <a:prstGeom prst="rightArrow">
            <a:avLst/>
          </a:prstGeom>
          <a:solidFill>
            <a:srgbClr val="6B7688"/>
          </a:solidFill>
          <a:ln/>
        </p:spPr>
      </p:sp>
      <p:sp>
        <p:nvSpPr>
          <p:cNvPr id="38" name="Shape 36"/>
          <p:cNvSpPr/>
          <p:nvPr/>
        </p:nvSpPr>
        <p:spPr>
          <a:xfrm>
            <a:off x="8211312" y="1677924"/>
            <a:ext cx="237744" cy="164592"/>
          </a:xfrm>
          <a:prstGeom prst="rightArrow">
            <a:avLst/>
          </a:prstGeom>
          <a:solidFill>
            <a:srgbClr val="6B7688"/>
          </a:solidFill>
          <a:ln/>
        </p:spPr>
      </p:sp>
      <p:sp>
        <p:nvSpPr>
          <p:cNvPr id="39" name="Shape 37"/>
          <p:cNvSpPr/>
          <p:nvPr/>
        </p:nvSpPr>
        <p:spPr>
          <a:xfrm>
            <a:off x="9582912" y="2212848"/>
            <a:ext cx="164592" cy="164592"/>
          </a:xfrm>
          <a:prstGeom prst="downArrow">
            <a:avLst/>
          </a:prstGeom>
          <a:solidFill>
            <a:srgbClr val="6B7688"/>
          </a:solidFill>
          <a:ln/>
        </p:spPr>
      </p:sp>
      <p:sp>
        <p:nvSpPr>
          <p:cNvPr id="40" name="Shape 38"/>
          <p:cNvSpPr/>
          <p:nvPr/>
        </p:nvSpPr>
        <p:spPr>
          <a:xfrm>
            <a:off x="8211312" y="2747772"/>
            <a:ext cx="237744" cy="164592"/>
          </a:xfrm>
          <a:prstGeom prst="leftArrow">
            <a:avLst/>
          </a:prstGeom>
          <a:solidFill>
            <a:srgbClr val="6B7688"/>
          </a:solidFill>
          <a:ln/>
        </p:spPr>
      </p:sp>
      <p:sp>
        <p:nvSpPr>
          <p:cNvPr id="41" name="Shape 39"/>
          <p:cNvSpPr/>
          <p:nvPr/>
        </p:nvSpPr>
        <p:spPr>
          <a:xfrm>
            <a:off x="5541264" y="2747772"/>
            <a:ext cx="237744" cy="164592"/>
          </a:xfrm>
          <a:prstGeom prst="leftArrow">
            <a:avLst/>
          </a:prstGeom>
          <a:solidFill>
            <a:srgbClr val="6B7688"/>
          </a:solidFill>
          <a:ln/>
        </p:spPr>
      </p:sp>
      <p:sp>
        <p:nvSpPr>
          <p:cNvPr id="42" name="Shape 40"/>
          <p:cNvSpPr/>
          <p:nvPr/>
        </p:nvSpPr>
        <p:spPr>
          <a:xfrm>
            <a:off x="2871216" y="2747772"/>
            <a:ext cx="237744" cy="164592"/>
          </a:xfrm>
          <a:prstGeom prst="leftArrow">
            <a:avLst/>
          </a:prstGeom>
          <a:solidFill>
            <a:srgbClr val="6B7688"/>
          </a:solidFill>
          <a:ln/>
        </p:spPr>
      </p:sp>
      <p:sp>
        <p:nvSpPr>
          <p:cNvPr id="43" name="Shape 41"/>
          <p:cNvSpPr/>
          <p:nvPr/>
        </p:nvSpPr>
        <p:spPr>
          <a:xfrm>
            <a:off x="457200" y="3611880"/>
            <a:ext cx="3575304" cy="2606040"/>
          </a:xfrm>
          <a:prstGeom prst="roundRect">
            <a:avLst>
              <a:gd name="adj" fmla="val 2807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662940" y="3817620"/>
            <a:ext cx="502920" cy="502920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45" name="Image 0" descr="/home/claude/pptx_project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3641" y="3938321"/>
            <a:ext cx="261518" cy="261518"/>
          </a:xfrm>
          <a:prstGeom prst="rect">
            <a:avLst/>
          </a:prstGeom>
        </p:spPr>
      </p:pic>
      <p:sp>
        <p:nvSpPr>
          <p:cNvPr id="46" name="Text 43"/>
          <p:cNvSpPr/>
          <p:nvPr/>
        </p:nvSpPr>
        <p:spPr>
          <a:xfrm>
            <a:off x="1280160" y="381304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400" dirty="0"/>
          </a:p>
        </p:txBody>
      </p:sp>
      <p:sp>
        <p:nvSpPr>
          <p:cNvPr id="47" name="Text 44"/>
          <p:cNvSpPr/>
          <p:nvPr/>
        </p:nvSpPr>
        <p:spPr>
          <a:xfrm>
            <a:off x="777240" y="4480560"/>
            <a:ext cx="2980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identification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recommendation</a:t>
            </a:r>
            <a:endParaRPr lang="en-US" sz="1100" dirty="0"/>
          </a:p>
        </p:txBody>
      </p:sp>
      <p:sp>
        <p:nvSpPr>
          <p:cNvPr id="48" name="Shape 45"/>
          <p:cNvSpPr/>
          <p:nvPr/>
        </p:nvSpPr>
        <p:spPr>
          <a:xfrm>
            <a:off x="4306824" y="3611880"/>
            <a:ext cx="3575304" cy="2606040"/>
          </a:xfrm>
          <a:prstGeom prst="roundRect">
            <a:avLst>
              <a:gd name="adj" fmla="val 2807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49" name="Shape 46"/>
          <p:cNvSpPr/>
          <p:nvPr/>
        </p:nvSpPr>
        <p:spPr>
          <a:xfrm>
            <a:off x="4512564" y="3817620"/>
            <a:ext cx="502920" cy="50292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50" name="Image 1" descr="/home/claude/pptx_project/icons/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33265" y="3938321"/>
            <a:ext cx="261518" cy="261518"/>
          </a:xfrm>
          <a:prstGeom prst="rect">
            <a:avLst/>
          </a:prstGeom>
        </p:spPr>
      </p:pic>
      <p:sp>
        <p:nvSpPr>
          <p:cNvPr id="51" name="Text 47"/>
          <p:cNvSpPr/>
          <p:nvPr/>
        </p:nvSpPr>
        <p:spPr>
          <a:xfrm>
            <a:off x="5129784" y="381304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400" dirty="0"/>
          </a:p>
        </p:txBody>
      </p:sp>
      <p:sp>
        <p:nvSpPr>
          <p:cNvPr id="52" name="Text 48"/>
          <p:cNvSpPr/>
          <p:nvPr/>
        </p:nvSpPr>
        <p:spPr>
          <a:xfrm>
            <a:off x="4626864" y="4480560"/>
            <a:ext cx="2980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 information detection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routing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 &amp; audit logging</a:t>
            </a:r>
            <a:endParaRPr lang="en-US" sz="1100" dirty="0"/>
          </a:p>
        </p:txBody>
      </p:sp>
      <p:sp>
        <p:nvSpPr>
          <p:cNvPr id="53" name="Shape 49"/>
          <p:cNvSpPr/>
          <p:nvPr/>
        </p:nvSpPr>
        <p:spPr>
          <a:xfrm>
            <a:off x="8156448" y="3611880"/>
            <a:ext cx="3575304" cy="2606040"/>
          </a:xfrm>
          <a:prstGeom prst="roundRect">
            <a:avLst>
              <a:gd name="adj" fmla="val 2807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54" name="Shape 50"/>
          <p:cNvSpPr/>
          <p:nvPr/>
        </p:nvSpPr>
        <p:spPr>
          <a:xfrm>
            <a:off x="8362188" y="3817620"/>
            <a:ext cx="502920" cy="502920"/>
          </a:xfrm>
          <a:prstGeom prst="ellipse">
            <a:avLst/>
          </a:prstGeom>
          <a:solidFill>
            <a:srgbClr val="5C6B84"/>
          </a:solidFill>
          <a:ln/>
        </p:spPr>
      </p:sp>
      <p:pic>
        <p:nvPicPr>
          <p:cNvPr id="55" name="Image 2" descr="/home/claude/pptx_project/icons/users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482889" y="3938321"/>
            <a:ext cx="261518" cy="261518"/>
          </a:xfrm>
          <a:prstGeom prst="rect">
            <a:avLst/>
          </a:prstGeom>
        </p:spPr>
      </p:pic>
      <p:sp>
        <p:nvSpPr>
          <p:cNvPr id="56" name="Text 51"/>
          <p:cNvSpPr/>
          <p:nvPr/>
        </p:nvSpPr>
        <p:spPr>
          <a:xfrm>
            <a:off x="8979408" y="3813048"/>
            <a:ext cx="2569464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100" kern="0" dirty="0">
                <a:solidFill>
                  <a:srgbClr val="5C6B8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400" dirty="0"/>
          </a:p>
        </p:txBody>
      </p:sp>
      <p:sp>
        <p:nvSpPr>
          <p:cNvPr id="57" name="Text 52"/>
          <p:cNvSpPr/>
          <p:nvPr/>
        </p:nvSpPr>
        <p:spPr>
          <a:xfrm>
            <a:off x="8476488" y="4480560"/>
            <a:ext cx="2980944" cy="1600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Loan officer review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lending decision</a:t>
            </a:r>
            <a:endParaRPr lang="en-US" sz="1100" dirty="0"/>
          </a:p>
          <a:p>
            <a:pPr marL="342900" indent="-342900">
              <a:lnSpc>
                <a:spcPct val="110000"/>
              </a:lnSpc>
              <a:spcAft>
                <a:spcPts val="800"/>
              </a:spcAft>
              <a:buSzPct val="100000"/>
              <a:buChar char="•"/>
            </a:pPr>
            <a:r>
              <a:rPr lang="en-US" sz="11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handling</a:t>
            </a:r>
            <a:endParaRPr lang="en-US" sz="1100" dirty="0"/>
          </a:p>
        </p:txBody>
      </p:sp>
      <p:sp>
        <p:nvSpPr>
          <p:cNvPr id="58" name="Text 53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Financial Risk Classification &amp; Process Automation</a:t>
            </a:r>
            <a:endParaRPr lang="en-US" sz="900" dirty="0"/>
          </a:p>
        </p:txBody>
      </p:sp>
      <p:sp>
        <p:nvSpPr>
          <p:cNvPr id="59" name="Text 54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9144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 / Automated TO-BE Process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9144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process flow — designed in Lucidchart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640080" y="1417320"/>
            <a:ext cx="10908792" cy="4343400"/>
          </a:xfrm>
          <a:prstGeom prst="roundRect">
            <a:avLst>
              <a:gd name="adj" fmla="val 1684"/>
            </a:avLst>
          </a:prstGeom>
          <a:solidFill>
            <a:srgbClr val="F5F9FD"/>
          </a:solidFill>
          <a:ln w="22225">
            <a:solidFill>
              <a:srgbClr val="028090"/>
            </a:solidFill>
            <a:prstDash val="dash"/>
          </a:ln>
        </p:spPr>
      </p:sp>
      <p:sp>
        <p:nvSpPr>
          <p:cNvPr id="5" name="Shape 3"/>
          <p:cNvSpPr/>
          <p:nvPr/>
        </p:nvSpPr>
        <p:spPr>
          <a:xfrm>
            <a:off x="5682996" y="2674620"/>
            <a:ext cx="822960" cy="822960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6" name="Image 0" descr="/home/claude/pptx_project/icons/layer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88736" y="288036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3634740"/>
            <a:ext cx="981151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INSERT LUCIDCHART AI / AUTOMATED TO-BE PROCESS FLOW HERE ]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188720" y="4091940"/>
            <a:ext cx="9811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Diagram area sized for a full-page Lucidchart export (PNG/SVG)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40080" y="598932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i="1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provides decision-support recommendations; final lending decisions remain with authorized human reviewers.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Financial Risk Classification &amp; Process Automation</a:t>
            </a:r>
            <a:endParaRPr lang="en-US" sz="900" dirty="0"/>
          </a:p>
        </p:txBody>
      </p:sp>
      <p:sp>
        <p:nvSpPr>
          <p:cNvPr id="11" name="Text 8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515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AI, Automation &amp; Human Responsibilities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058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Human-in-the-loop: AI and automation support the decision; people own it</a:t>
            </a:r>
            <a:endParaRPr lang="en-US" sz="13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3575304" cy="3520440"/>
          </a:xfrm>
          <a:prstGeom prst="roundRect">
            <a:avLst>
              <a:gd name="adj" fmla="val 2338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57200" y="1417320"/>
            <a:ext cx="3575304" cy="777240"/>
          </a:xfrm>
          <a:prstGeom prst="roundRect">
            <a:avLst>
              <a:gd name="adj" fmla="val 10588"/>
            </a:avLst>
          </a:prstGeom>
          <a:solidFill>
            <a:srgbClr val="1E2761"/>
          </a:solidFill>
          <a:ln/>
        </p:spPr>
      </p:sp>
      <p:sp>
        <p:nvSpPr>
          <p:cNvPr id="6" name="Shape 4"/>
          <p:cNvSpPr/>
          <p:nvPr/>
        </p:nvSpPr>
        <p:spPr>
          <a:xfrm>
            <a:off x="457200" y="1783080"/>
            <a:ext cx="3575304" cy="411480"/>
          </a:xfrm>
          <a:prstGeom prst="rect">
            <a:avLst/>
          </a:prstGeom>
          <a:solidFill>
            <a:srgbClr val="1E2761"/>
          </a:solidFill>
          <a:ln/>
        </p:spPr>
      </p:sp>
      <p:pic>
        <p:nvPicPr>
          <p:cNvPr id="7" name="Image 0" descr="/home/claude/pptx_project/icons/cpu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4672" y="1586484"/>
            <a:ext cx="438912" cy="438912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417320" y="1417320"/>
            <a:ext cx="2478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</a:t>
            </a:r>
            <a:endParaRPr lang="en-US" sz="1500" dirty="0"/>
          </a:p>
        </p:txBody>
      </p:sp>
      <p:sp>
        <p:nvSpPr>
          <p:cNvPr id="9" name="Text 6"/>
          <p:cNvSpPr/>
          <p:nvPr/>
        </p:nvSpPr>
        <p:spPr>
          <a:xfrm>
            <a:off x="822960" y="2423160"/>
            <a:ext cx="2935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assessment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classification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factor identification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Explainable recommendations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306824" y="1417320"/>
            <a:ext cx="3575304" cy="3520440"/>
          </a:xfrm>
          <a:prstGeom prst="roundRect">
            <a:avLst>
              <a:gd name="adj" fmla="val 2338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1" name="Shape 8"/>
          <p:cNvSpPr/>
          <p:nvPr/>
        </p:nvSpPr>
        <p:spPr>
          <a:xfrm>
            <a:off x="4306824" y="1417320"/>
            <a:ext cx="3575304" cy="777240"/>
          </a:xfrm>
          <a:prstGeom prst="roundRect">
            <a:avLst>
              <a:gd name="adj" fmla="val 10588"/>
            </a:avLst>
          </a:prstGeom>
          <a:solidFill>
            <a:srgbClr val="028090"/>
          </a:solidFill>
          <a:ln/>
        </p:spPr>
      </p:sp>
      <p:sp>
        <p:nvSpPr>
          <p:cNvPr id="12" name="Shape 9"/>
          <p:cNvSpPr/>
          <p:nvPr/>
        </p:nvSpPr>
        <p:spPr>
          <a:xfrm>
            <a:off x="4306824" y="1783080"/>
            <a:ext cx="3575304" cy="411480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3" name="Image 1" descr="/home/claude/pptx_project/icons/settings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54296" y="1586484"/>
            <a:ext cx="438912" cy="438912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5266944" y="1417320"/>
            <a:ext cx="2478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AUTOMATION</a:t>
            </a:r>
            <a:endParaRPr lang="en-US" sz="1500" dirty="0"/>
          </a:p>
        </p:txBody>
      </p:sp>
      <p:sp>
        <p:nvSpPr>
          <p:cNvPr id="15" name="Text 11"/>
          <p:cNvSpPr/>
          <p:nvPr/>
        </p:nvSpPr>
        <p:spPr>
          <a:xfrm>
            <a:off x="4672584" y="2423160"/>
            <a:ext cx="2935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Missing-data detection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Risk-based routing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Notifications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Audit logging</a:t>
            </a:r>
            <a:endParaRPr lang="en-US" sz="1200" dirty="0"/>
          </a:p>
        </p:txBody>
      </p:sp>
      <p:sp>
        <p:nvSpPr>
          <p:cNvPr id="16" name="Shape 12"/>
          <p:cNvSpPr/>
          <p:nvPr/>
        </p:nvSpPr>
        <p:spPr>
          <a:xfrm>
            <a:off x="8156448" y="1417320"/>
            <a:ext cx="3575304" cy="3520440"/>
          </a:xfrm>
          <a:prstGeom prst="roundRect">
            <a:avLst>
              <a:gd name="adj" fmla="val 2338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17" name="Shape 13"/>
          <p:cNvSpPr/>
          <p:nvPr/>
        </p:nvSpPr>
        <p:spPr>
          <a:xfrm>
            <a:off x="8156448" y="1417320"/>
            <a:ext cx="3575304" cy="777240"/>
          </a:xfrm>
          <a:prstGeom prst="roundRect">
            <a:avLst>
              <a:gd name="adj" fmla="val 10588"/>
            </a:avLst>
          </a:prstGeom>
          <a:solidFill>
            <a:srgbClr val="5C6B84"/>
          </a:solidFill>
          <a:ln/>
        </p:spPr>
      </p:sp>
      <p:sp>
        <p:nvSpPr>
          <p:cNvPr id="18" name="Shape 14"/>
          <p:cNvSpPr/>
          <p:nvPr/>
        </p:nvSpPr>
        <p:spPr>
          <a:xfrm>
            <a:off x="8156448" y="1783080"/>
            <a:ext cx="3575304" cy="411480"/>
          </a:xfrm>
          <a:prstGeom prst="rect">
            <a:avLst/>
          </a:prstGeom>
          <a:solidFill>
            <a:srgbClr val="5C6B84"/>
          </a:solidFill>
          <a:ln/>
        </p:spPr>
      </p:sp>
      <p:pic>
        <p:nvPicPr>
          <p:cNvPr id="19" name="Image 2" descr="/home/claude/pptx_project/icons/user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3920" y="1586484"/>
            <a:ext cx="438912" cy="43891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116568" y="1417320"/>
            <a:ext cx="2478024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spc="1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</a:t>
            </a:r>
            <a:endParaRPr lang="en-US" sz="1500" dirty="0"/>
          </a:p>
        </p:txBody>
      </p:sp>
      <p:sp>
        <p:nvSpPr>
          <p:cNvPr id="21" name="Text 16"/>
          <p:cNvSpPr/>
          <p:nvPr/>
        </p:nvSpPr>
        <p:spPr>
          <a:xfrm>
            <a:off x="8522208" y="2423160"/>
            <a:ext cx="2935224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AI recommendation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exceptions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Override / revise recommendation</a:t>
            </a:r>
            <a:endParaRPr lang="en-US" sz="1200" dirty="0"/>
          </a:p>
          <a:p>
            <a:pPr marL="342900" indent="-342900">
              <a:lnSpc>
                <a:spcPct val="115000"/>
              </a:lnSpc>
              <a:spcAft>
                <a:spcPts val="1200"/>
              </a:spcAft>
              <a:buSzPct val="100000"/>
              <a:buChar char="•"/>
            </a:pPr>
            <a:r>
              <a:rPr lang="en-US" sz="120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approval / rejection decision</a:t>
            </a:r>
            <a:endParaRPr lang="en-US" sz="1200" dirty="0"/>
          </a:p>
        </p:txBody>
      </p:sp>
      <p:sp>
        <p:nvSpPr>
          <p:cNvPr id="22" name="Shape 17"/>
          <p:cNvSpPr/>
          <p:nvPr/>
        </p:nvSpPr>
        <p:spPr>
          <a:xfrm>
            <a:off x="457200" y="5193792"/>
            <a:ext cx="11274552" cy="566928"/>
          </a:xfrm>
          <a:prstGeom prst="roundRect">
            <a:avLst>
              <a:gd name="adj" fmla="val 14516"/>
            </a:avLst>
          </a:prstGeom>
          <a:solidFill>
            <a:srgbClr val="1E2761"/>
          </a:solidFill>
          <a:ln/>
        </p:spPr>
      </p:sp>
      <p:sp>
        <p:nvSpPr>
          <p:cNvPr id="23" name="Text 18"/>
          <p:cNvSpPr/>
          <p:nvPr/>
        </p:nvSpPr>
        <p:spPr>
          <a:xfrm>
            <a:off x="640080" y="5193792"/>
            <a:ext cx="10908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and automation generate recommendations — the human reviewer always makes the final decision.</a:t>
            </a:r>
            <a:endParaRPr lang="en-US" sz="1200" dirty="0"/>
          </a:p>
        </p:txBody>
      </p:sp>
      <p:sp>
        <p:nvSpPr>
          <p:cNvPr id="24" name="Text 19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Financial Risk Classification &amp; Process Automation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384048"/>
            <a:ext cx="10058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761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Value &amp; Proposed KPIs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868680"/>
            <a:ext cx="10972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Anticipated benefits and metrics to track post-implementation — no results yet, as no model has been built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457200" y="1417320"/>
            <a:ext cx="5532120" cy="4709160"/>
          </a:xfrm>
          <a:prstGeom prst="roundRect">
            <a:avLst>
              <a:gd name="adj" fmla="val 1748"/>
            </a:avLst>
          </a:prstGeom>
          <a:solidFill>
            <a:srgbClr val="F5F9FD"/>
          </a:solidFill>
          <a:ln w="9525">
            <a:solidFill>
              <a:srgbClr val="DCE6F0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" y="1636776"/>
            <a:ext cx="566928" cy="56692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/home/claude/pptx_project/icons/trendin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4159" y="1772839"/>
            <a:ext cx="294803" cy="294803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63040" y="1645920"/>
            <a:ext cx="4251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Benefits</a:t>
            </a:r>
            <a:endParaRPr lang="en-US" sz="1700" dirty="0"/>
          </a:p>
        </p:txBody>
      </p:sp>
      <p:sp>
        <p:nvSpPr>
          <p:cNvPr id="8" name="Shape 5"/>
          <p:cNvSpPr/>
          <p:nvPr/>
        </p:nvSpPr>
        <p:spPr>
          <a:xfrm>
            <a:off x="795528" y="2414016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9" name="Image 1" descr="/home/claude/pptx_project/icons/check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69594" y="2488082"/>
            <a:ext cx="181051" cy="18105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37744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Reduced manual effort</a:t>
            </a:r>
            <a:endParaRPr lang="en-US" sz="1250" dirty="0"/>
          </a:p>
        </p:txBody>
      </p:sp>
      <p:sp>
        <p:nvSpPr>
          <p:cNvPr id="11" name="Shape 7"/>
          <p:cNvSpPr/>
          <p:nvPr/>
        </p:nvSpPr>
        <p:spPr>
          <a:xfrm>
            <a:off x="795528" y="292150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2" name="Image 2" descr="/home/claude/pptx_project/icons/check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69594" y="2995574"/>
            <a:ext cx="181051" cy="181051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234440" y="288493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Faster initial application screening</a:t>
            </a:r>
            <a:endParaRPr lang="en-US" sz="1250" dirty="0"/>
          </a:p>
        </p:txBody>
      </p:sp>
      <p:sp>
        <p:nvSpPr>
          <p:cNvPr id="14" name="Shape 9"/>
          <p:cNvSpPr/>
          <p:nvPr/>
        </p:nvSpPr>
        <p:spPr>
          <a:xfrm>
            <a:off x="795528" y="3429000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5" name="Image 3" descr="/home/claude/pptx_project/icons/check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69594" y="3503066"/>
            <a:ext cx="181051" cy="181051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234440" y="3392424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risk prioritization</a:t>
            </a:r>
            <a:endParaRPr lang="en-US" sz="1250" dirty="0"/>
          </a:p>
        </p:txBody>
      </p:sp>
      <p:sp>
        <p:nvSpPr>
          <p:cNvPr id="17" name="Shape 11"/>
          <p:cNvSpPr/>
          <p:nvPr/>
        </p:nvSpPr>
        <p:spPr>
          <a:xfrm>
            <a:off x="795528" y="3936492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18" name="Image 4" descr="/home/claude/pptx_project/icons/check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69594" y="4010558"/>
            <a:ext cx="181051" cy="181051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234440" y="3899916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consistency</a:t>
            </a:r>
            <a:endParaRPr lang="en-US" sz="1250" dirty="0"/>
          </a:p>
        </p:txBody>
      </p:sp>
      <p:sp>
        <p:nvSpPr>
          <p:cNvPr id="20" name="Shape 13"/>
          <p:cNvSpPr/>
          <p:nvPr/>
        </p:nvSpPr>
        <p:spPr>
          <a:xfrm>
            <a:off x="795528" y="4443984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1" name="Image 5" descr="/home/claude/pptx_project/icons/check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9594" y="4518050"/>
            <a:ext cx="181051" cy="181051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1234440" y="4407408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transparency</a:t>
            </a:r>
            <a:endParaRPr lang="en-US" sz="1250" dirty="0"/>
          </a:p>
        </p:txBody>
      </p:sp>
      <p:sp>
        <p:nvSpPr>
          <p:cNvPr id="23" name="Shape 15"/>
          <p:cNvSpPr/>
          <p:nvPr/>
        </p:nvSpPr>
        <p:spPr>
          <a:xfrm>
            <a:off x="795528" y="4951476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4" name="Image 6" descr="/home/claude/pptx_project/icons/check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69594" y="5025542"/>
            <a:ext cx="181051" cy="181051"/>
          </a:xfrm>
          <a:prstGeom prst="rect">
            <a:avLst/>
          </a:prstGeom>
        </p:spPr>
      </p:pic>
      <p:sp>
        <p:nvSpPr>
          <p:cNvPr id="25" name="Text 16"/>
          <p:cNvSpPr/>
          <p:nvPr/>
        </p:nvSpPr>
        <p:spPr>
          <a:xfrm>
            <a:off x="1234440" y="4914900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Improved auditability</a:t>
            </a:r>
            <a:endParaRPr lang="en-US" sz="1250" dirty="0"/>
          </a:p>
        </p:txBody>
      </p:sp>
      <p:sp>
        <p:nvSpPr>
          <p:cNvPr id="26" name="Shape 17"/>
          <p:cNvSpPr/>
          <p:nvPr/>
        </p:nvSpPr>
        <p:spPr>
          <a:xfrm>
            <a:off x="795528" y="5458968"/>
            <a:ext cx="329184" cy="329184"/>
          </a:xfrm>
          <a:prstGeom prst="ellipse">
            <a:avLst/>
          </a:prstGeom>
          <a:solidFill>
            <a:srgbClr val="02C39A"/>
          </a:solidFill>
          <a:ln/>
        </p:spPr>
      </p:sp>
      <p:pic>
        <p:nvPicPr>
          <p:cNvPr id="27" name="Image 7" descr="/home/claude/pptx_project/icons/check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69594" y="5533034"/>
            <a:ext cx="181051" cy="181051"/>
          </a:xfrm>
          <a:prstGeom prst="rect">
            <a:avLst/>
          </a:prstGeom>
        </p:spPr>
      </p:pic>
      <p:sp>
        <p:nvSpPr>
          <p:cNvPr id="28" name="Text 18"/>
          <p:cNvSpPr/>
          <p:nvPr/>
        </p:nvSpPr>
        <p:spPr>
          <a:xfrm>
            <a:off x="1234440" y="5422392"/>
            <a:ext cx="44805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3D465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Better loan officer productivity</a:t>
            </a:r>
            <a:endParaRPr lang="en-US" sz="1250" dirty="0"/>
          </a:p>
        </p:txBody>
      </p:sp>
      <p:sp>
        <p:nvSpPr>
          <p:cNvPr id="29" name="Shape 19"/>
          <p:cNvSpPr/>
          <p:nvPr/>
        </p:nvSpPr>
        <p:spPr>
          <a:xfrm>
            <a:off x="6199632" y="1417320"/>
            <a:ext cx="5532120" cy="4709160"/>
          </a:xfrm>
          <a:prstGeom prst="roundRect">
            <a:avLst>
              <a:gd name="adj" fmla="val 1748"/>
            </a:avLst>
          </a:prstGeom>
          <a:solidFill>
            <a:srgbClr val="1E2761"/>
          </a:solidFill>
          <a:ln/>
        </p:spPr>
      </p:sp>
      <p:sp>
        <p:nvSpPr>
          <p:cNvPr id="30" name="Shape 20"/>
          <p:cNvSpPr/>
          <p:nvPr/>
        </p:nvSpPr>
        <p:spPr>
          <a:xfrm>
            <a:off x="6510528" y="1636776"/>
            <a:ext cx="566928" cy="566928"/>
          </a:xfrm>
          <a:prstGeom prst="ellipse">
            <a:avLst/>
          </a:prstGeom>
          <a:solidFill>
            <a:srgbClr val="028090"/>
          </a:solidFill>
          <a:ln/>
        </p:spPr>
      </p:sp>
      <p:pic>
        <p:nvPicPr>
          <p:cNvPr id="31" name="Image 8" descr="/home/claude/pptx_project/icons/target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646591" y="1772839"/>
            <a:ext cx="294803" cy="294803"/>
          </a:xfrm>
          <a:prstGeom prst="rect">
            <a:avLst/>
          </a:prstGeom>
        </p:spPr>
      </p:pic>
      <p:sp>
        <p:nvSpPr>
          <p:cNvPr id="32" name="Text 21"/>
          <p:cNvSpPr/>
          <p:nvPr/>
        </p:nvSpPr>
        <p:spPr>
          <a:xfrm>
            <a:off x="7205472" y="1581912"/>
            <a:ext cx="4251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7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Proposed KPIs</a:t>
            </a:r>
            <a:endParaRPr lang="en-US" sz="1700" dirty="0"/>
          </a:p>
          <a:p>
            <a:pPr indent="0" marL="0">
              <a:lnSpc>
                <a:spcPct val="115000"/>
              </a:lnSpc>
              <a:buNone/>
            </a:pPr>
            <a:r>
              <a:rPr lang="en-US" sz="1050" i="1" dirty="0">
                <a:solidFill>
                  <a:srgbClr val="EAF2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be measured after implementation</a:t>
            </a:r>
            <a:endParaRPr lang="en-US" sz="1700" dirty="0"/>
          </a:p>
        </p:txBody>
      </p:sp>
      <p:sp>
        <p:nvSpPr>
          <p:cNvPr id="33" name="Shape 22"/>
          <p:cNvSpPr/>
          <p:nvPr/>
        </p:nvSpPr>
        <p:spPr>
          <a:xfrm>
            <a:off x="6565392" y="2468880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141B49"/>
          </a:solidFill>
          <a:ln/>
        </p:spPr>
      </p:sp>
      <p:sp>
        <p:nvSpPr>
          <p:cNvPr id="34" name="Shape 23"/>
          <p:cNvSpPr/>
          <p:nvPr/>
        </p:nvSpPr>
        <p:spPr>
          <a:xfrm>
            <a:off x="6766560" y="2633472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5" name="Text 24"/>
          <p:cNvSpPr/>
          <p:nvPr/>
        </p:nvSpPr>
        <p:spPr>
          <a:xfrm>
            <a:off x="7068312" y="2468880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Application processing time</a:t>
            </a:r>
            <a:endParaRPr lang="en-US" sz="1200" dirty="0"/>
          </a:p>
        </p:txBody>
      </p:sp>
      <p:sp>
        <p:nvSpPr>
          <p:cNvPr id="36" name="Shape 25"/>
          <p:cNvSpPr/>
          <p:nvPr/>
        </p:nvSpPr>
        <p:spPr>
          <a:xfrm>
            <a:off x="6565392" y="3076956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141B49"/>
          </a:solidFill>
          <a:ln/>
        </p:spPr>
      </p:sp>
      <p:sp>
        <p:nvSpPr>
          <p:cNvPr id="37" name="Shape 26"/>
          <p:cNvSpPr/>
          <p:nvPr/>
        </p:nvSpPr>
        <p:spPr>
          <a:xfrm>
            <a:off x="6766560" y="3241548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38" name="Text 27"/>
          <p:cNvSpPr/>
          <p:nvPr/>
        </p:nvSpPr>
        <p:spPr>
          <a:xfrm>
            <a:off x="7068312" y="3076956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Manual review time</a:t>
            </a:r>
            <a:endParaRPr lang="en-US" sz="1200" dirty="0"/>
          </a:p>
        </p:txBody>
      </p:sp>
      <p:sp>
        <p:nvSpPr>
          <p:cNvPr id="39" name="Shape 28"/>
          <p:cNvSpPr/>
          <p:nvPr/>
        </p:nvSpPr>
        <p:spPr>
          <a:xfrm>
            <a:off x="6565392" y="3685032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141B49"/>
          </a:solidFill>
          <a:ln/>
        </p:spPr>
      </p:sp>
      <p:sp>
        <p:nvSpPr>
          <p:cNvPr id="40" name="Shape 29"/>
          <p:cNvSpPr/>
          <p:nvPr/>
        </p:nvSpPr>
        <p:spPr>
          <a:xfrm>
            <a:off x="6766560" y="3849624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1" name="Text 30"/>
          <p:cNvSpPr/>
          <p:nvPr/>
        </p:nvSpPr>
        <p:spPr>
          <a:xfrm>
            <a:off x="7068312" y="3685032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Automated validation rate</a:t>
            </a:r>
            <a:endParaRPr lang="en-US" sz="1200" dirty="0"/>
          </a:p>
        </p:txBody>
      </p:sp>
      <p:sp>
        <p:nvSpPr>
          <p:cNvPr id="42" name="Shape 31"/>
          <p:cNvSpPr/>
          <p:nvPr/>
        </p:nvSpPr>
        <p:spPr>
          <a:xfrm>
            <a:off x="6565392" y="4293108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141B49"/>
          </a:solidFill>
          <a:ln/>
        </p:spPr>
      </p:sp>
      <p:sp>
        <p:nvSpPr>
          <p:cNvPr id="43" name="Shape 32"/>
          <p:cNvSpPr/>
          <p:nvPr/>
        </p:nvSpPr>
        <p:spPr>
          <a:xfrm>
            <a:off x="6766560" y="4457700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4" name="Text 33"/>
          <p:cNvSpPr/>
          <p:nvPr/>
        </p:nvSpPr>
        <p:spPr>
          <a:xfrm>
            <a:off x="7068312" y="4293108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High-risk identification rate</a:t>
            </a:r>
            <a:endParaRPr lang="en-US" sz="1200" dirty="0"/>
          </a:p>
        </p:txBody>
      </p:sp>
      <p:sp>
        <p:nvSpPr>
          <p:cNvPr id="45" name="Shape 34"/>
          <p:cNvSpPr/>
          <p:nvPr/>
        </p:nvSpPr>
        <p:spPr>
          <a:xfrm>
            <a:off x="6565392" y="4901184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141B49"/>
          </a:solidFill>
          <a:ln/>
        </p:spPr>
      </p:sp>
      <p:sp>
        <p:nvSpPr>
          <p:cNvPr id="46" name="Shape 35"/>
          <p:cNvSpPr/>
          <p:nvPr/>
        </p:nvSpPr>
        <p:spPr>
          <a:xfrm>
            <a:off x="6766560" y="5065776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47" name="Text 36"/>
          <p:cNvSpPr/>
          <p:nvPr/>
        </p:nvSpPr>
        <p:spPr>
          <a:xfrm>
            <a:off x="7068312" y="4901184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Exception rate</a:t>
            </a:r>
            <a:endParaRPr lang="en-US" sz="1200" dirty="0"/>
          </a:p>
        </p:txBody>
      </p:sp>
      <p:sp>
        <p:nvSpPr>
          <p:cNvPr id="48" name="Shape 37"/>
          <p:cNvSpPr/>
          <p:nvPr/>
        </p:nvSpPr>
        <p:spPr>
          <a:xfrm>
            <a:off x="6565392" y="5509260"/>
            <a:ext cx="4800600" cy="512064"/>
          </a:xfrm>
          <a:prstGeom prst="roundRect">
            <a:avLst>
              <a:gd name="adj" fmla="val 10714"/>
            </a:avLst>
          </a:prstGeom>
          <a:solidFill>
            <a:srgbClr val="141B49"/>
          </a:solidFill>
          <a:ln/>
        </p:spPr>
      </p:sp>
      <p:sp>
        <p:nvSpPr>
          <p:cNvPr id="49" name="Shape 38"/>
          <p:cNvSpPr/>
          <p:nvPr/>
        </p:nvSpPr>
        <p:spPr>
          <a:xfrm>
            <a:off x="6766560" y="5673852"/>
            <a:ext cx="182880" cy="182880"/>
          </a:xfrm>
          <a:prstGeom prst="ellipse">
            <a:avLst/>
          </a:prstGeom>
          <a:solidFill>
            <a:srgbClr val="028090"/>
          </a:solidFill>
          <a:ln/>
        </p:spPr>
      </p:sp>
      <p:sp>
        <p:nvSpPr>
          <p:cNvPr id="50" name="Text 39"/>
          <p:cNvSpPr/>
          <p:nvPr/>
        </p:nvSpPr>
        <p:spPr>
          <a:xfrm>
            <a:off x="7068312" y="5509260"/>
            <a:ext cx="429768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recommendation override rate</a:t>
            </a:r>
            <a:endParaRPr lang="en-US" sz="1200" dirty="0"/>
          </a:p>
        </p:txBody>
      </p:sp>
      <p:sp>
        <p:nvSpPr>
          <p:cNvPr id="51" name="Text 40"/>
          <p:cNvSpPr/>
          <p:nvPr/>
        </p:nvSpPr>
        <p:spPr>
          <a:xfrm>
            <a:off x="457200" y="6547104"/>
            <a:ext cx="8686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AI-Assisted Financial Risk Classification &amp; Process Automation</a:t>
            </a:r>
            <a:endParaRPr lang="en-US" sz="900" dirty="0"/>
          </a:p>
        </p:txBody>
      </p:sp>
      <p:sp>
        <p:nvSpPr>
          <p:cNvPr id="52" name="Text 41"/>
          <p:cNvSpPr/>
          <p:nvPr/>
        </p:nvSpPr>
        <p:spPr>
          <a:xfrm>
            <a:off x="11521440" y="6547104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6B768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2026-08-13T12:43:24Z</dcterms:created>
  <dcterms:modified xsi:type="dcterms:W3CDTF">2026-08-13T12:43:24Z</dcterms:modified>
</cp:coreProperties>
</file>