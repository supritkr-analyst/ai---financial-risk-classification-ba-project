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61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754880" cy="475488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120640"/>
            <a:ext cx="2743200" cy="2743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96012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x_project/icons/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188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ANALYSIS PORTFOLIO PROJECT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Financial Risk Classification</a:t>
            </a:r>
            <a:endParaRPr lang="en-US" sz="4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Process Automation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Suprit Kumar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the current financial risk assessment process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" y="17739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x_project/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99" y="190999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5270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Applicant Data Validation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25880" y="18745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verify applicant data before assessment can begin.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37376" y="17739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/home/claude/pptx_project/icons/refre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439" y="190999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15270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Risk Assessment Activities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132320" y="18745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repeat the same manual evaluation steps on every application.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862072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0936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/home/claude/pptx_project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99" y="3354751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Prioritizing Applications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325880" y="33192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consistent way to identify which applications need attention first.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2862072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37376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/home/claude/pptx_project/icons/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439" y="3354751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Delays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132320" y="33192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handoffs and reviews extend overall turnaround time.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4306824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" y="46634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6" name="Image 4" descr="/home/claude/pptx_project/icons/ale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99" y="479950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25880" y="44165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Assessment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325880" y="47640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vary depending on the reviewer and available time.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263640" y="4306824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37376" y="46634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/home/claude/pptx_project/icons/mai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3439" y="4799503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32320" y="44165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Communication &amp; Tracking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132320" y="47640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 and follow-ups are tracked outside a unified system.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57200" y="5742432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35" name="Shape 27"/>
          <p:cNvSpPr/>
          <p:nvPr/>
        </p:nvSpPr>
        <p:spPr>
          <a:xfrm>
            <a:off x="731520" y="584301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6" name="Image 6" descr="/home/claude/pptx_project/icons/targ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390" y="5945886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71600" y="5742432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Objective: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financial risk screening efficiency through AI-assisted analysis and process automation while maintaining human oversight for final decisions.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457200" y="65471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Financial Risk Classification &amp; Process Automation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AI &amp; Automation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end-to-end workflow — not yet built or deployed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32588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27248" y="1325880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325880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3127248" y="1325880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38144" y="132588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97296" y="1325880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7296" y="1325880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797296" y="1325880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08192" y="132588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Risk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467344" y="1325880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67344" y="1325880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1325880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132588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67344" y="2395728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67344" y="2395728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467344" y="2395728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78240" y="2395728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Risk-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Routing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797296" y="2395728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5C6B8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97296" y="2395728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5C6B84"/>
          </a:solidFill>
          <a:ln/>
        </p:spPr>
      </p:sp>
      <p:sp>
        <p:nvSpPr>
          <p:cNvPr id="26" name="Text 24"/>
          <p:cNvSpPr/>
          <p:nvPr/>
        </p:nvSpPr>
        <p:spPr>
          <a:xfrm>
            <a:off x="5797296" y="2395728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08192" y="2395728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Officer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127248" y="2395728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5C6B8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27248" y="2395728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5C6B84"/>
          </a:solidFill>
          <a:ln/>
        </p:spPr>
      </p:sp>
      <p:sp>
        <p:nvSpPr>
          <p:cNvPr id="30" name="Text 28"/>
          <p:cNvSpPr/>
          <p:nvPr/>
        </p:nvSpPr>
        <p:spPr>
          <a:xfrm>
            <a:off x="3127248" y="2395728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438144" y="2395728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2395728"/>
            <a:ext cx="2395728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395728"/>
            <a:ext cx="310896" cy="868680"/>
          </a:xfrm>
          <a:prstGeom prst="roundRect">
            <a:avLst>
              <a:gd name="adj" fmla="val 20588"/>
            </a:avLst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2395728"/>
            <a:ext cx="310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8096" y="2395728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Notification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Audit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71216" y="1677924"/>
            <a:ext cx="237744" cy="164592"/>
          </a:xfrm>
          <a:prstGeom prst="rightArrow">
            <a:avLst/>
          </a:prstGeom>
          <a:solidFill>
            <a:srgbClr val="6B7688"/>
          </a:solidFill>
          <a:ln/>
        </p:spPr>
      </p:sp>
      <p:sp>
        <p:nvSpPr>
          <p:cNvPr id="37" name="Shape 35"/>
          <p:cNvSpPr/>
          <p:nvPr/>
        </p:nvSpPr>
        <p:spPr>
          <a:xfrm>
            <a:off x="5541264" y="1677924"/>
            <a:ext cx="237744" cy="164592"/>
          </a:xfrm>
          <a:prstGeom prst="rightArrow">
            <a:avLst/>
          </a:prstGeom>
          <a:solidFill>
            <a:srgbClr val="6B7688"/>
          </a:solidFill>
          <a:ln/>
        </p:spPr>
      </p:sp>
      <p:sp>
        <p:nvSpPr>
          <p:cNvPr id="38" name="Shape 36"/>
          <p:cNvSpPr/>
          <p:nvPr/>
        </p:nvSpPr>
        <p:spPr>
          <a:xfrm>
            <a:off x="8211312" y="1677924"/>
            <a:ext cx="237744" cy="164592"/>
          </a:xfrm>
          <a:prstGeom prst="rightArrow">
            <a:avLst/>
          </a:prstGeom>
          <a:solidFill>
            <a:srgbClr val="6B7688"/>
          </a:solidFill>
          <a:ln/>
        </p:spPr>
      </p:sp>
      <p:sp>
        <p:nvSpPr>
          <p:cNvPr id="39" name="Shape 37"/>
          <p:cNvSpPr/>
          <p:nvPr/>
        </p:nvSpPr>
        <p:spPr>
          <a:xfrm>
            <a:off x="9582912" y="2212848"/>
            <a:ext cx="164592" cy="164592"/>
          </a:xfrm>
          <a:prstGeom prst="downArrow">
            <a:avLst/>
          </a:prstGeom>
          <a:solidFill>
            <a:srgbClr val="6B768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1312" y="2747772"/>
            <a:ext cx="237744" cy="164592"/>
          </a:xfrm>
          <a:prstGeom prst="leftArrow">
            <a:avLst/>
          </a:prstGeom>
          <a:solidFill>
            <a:srgbClr val="6B7688"/>
          </a:solidFill>
          <a:ln/>
        </p:spPr>
      </p:sp>
      <p:sp>
        <p:nvSpPr>
          <p:cNvPr id="41" name="Shape 39"/>
          <p:cNvSpPr/>
          <p:nvPr/>
        </p:nvSpPr>
        <p:spPr>
          <a:xfrm>
            <a:off x="5541264" y="2747772"/>
            <a:ext cx="237744" cy="164592"/>
          </a:xfrm>
          <a:prstGeom prst="leftArrow">
            <a:avLst/>
          </a:prstGeom>
          <a:solidFill>
            <a:srgbClr val="6B7688"/>
          </a:solidFill>
          <a:ln/>
        </p:spPr>
      </p:sp>
      <p:sp>
        <p:nvSpPr>
          <p:cNvPr id="42" name="Shape 40"/>
          <p:cNvSpPr/>
          <p:nvPr/>
        </p:nvSpPr>
        <p:spPr>
          <a:xfrm>
            <a:off x="2871216" y="2747772"/>
            <a:ext cx="237744" cy="164592"/>
          </a:xfrm>
          <a:prstGeom prst="leftArrow">
            <a:avLst/>
          </a:prstGeom>
          <a:solidFill>
            <a:srgbClr val="6B7688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200" y="361188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62940" y="38176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5" name="Image 0" descr="/home/claude/pptx_project/icons/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1" y="3938321"/>
            <a:ext cx="261518" cy="26151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280160" y="38130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777240" y="4480560"/>
            <a:ext cx="29809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classification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 identification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306824" y="361188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12564" y="38176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0" name="Image 1" descr="/home/claude/pptx_project/icons/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265" y="3938321"/>
            <a:ext cx="261518" cy="261518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129784" y="38130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52" name="Text 48"/>
          <p:cNvSpPr/>
          <p:nvPr/>
        </p:nvSpPr>
        <p:spPr>
          <a:xfrm>
            <a:off x="4626864" y="4480560"/>
            <a:ext cx="29809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information detection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routing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&amp; audit logging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8156448" y="3611880"/>
            <a:ext cx="3575304" cy="2606040"/>
          </a:xfrm>
          <a:prstGeom prst="roundRect">
            <a:avLst>
              <a:gd name="adj" fmla="val 2807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8362188" y="3817620"/>
            <a:ext cx="502920" cy="502920"/>
          </a:xfrm>
          <a:prstGeom prst="ellipse">
            <a:avLst/>
          </a:prstGeom>
          <a:solidFill>
            <a:srgbClr val="5C6B84"/>
          </a:solidFill>
          <a:ln/>
        </p:spPr>
      </p:sp>
      <p:pic>
        <p:nvPicPr>
          <p:cNvPr id="55" name="Image 2" descr="/home/claude/pptx_project/icons/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2889" y="3938321"/>
            <a:ext cx="261518" cy="261518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979408" y="38130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400" dirty="0"/>
          </a:p>
        </p:txBody>
      </p:sp>
      <p:sp>
        <p:nvSpPr>
          <p:cNvPr id="57" name="Text 52"/>
          <p:cNvSpPr/>
          <p:nvPr/>
        </p:nvSpPr>
        <p:spPr>
          <a:xfrm>
            <a:off x="8476488" y="4480560"/>
            <a:ext cx="29809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officer review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lending decision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471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Financial Risk Classification &amp; Process Automation</a:t>
            </a:r>
            <a:endParaRPr lang="en-US" sz="900" dirty="0"/>
          </a:p>
        </p:txBody>
      </p:sp>
      <p:sp>
        <p:nvSpPr>
          <p:cNvPr id="59" name="Text 54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/ Automated TO-BE Process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process flow — designed in Lucidchart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908792" cy="4343400"/>
          </a:xfrm>
          <a:prstGeom prst="roundRect">
            <a:avLst>
              <a:gd name="adj" fmla="val 1684"/>
            </a:avLst>
          </a:prstGeom>
          <a:solidFill>
            <a:srgbClr val="F5F9FD"/>
          </a:solidFill>
          <a:ln w="22225">
            <a:solidFill>
              <a:srgbClr val="028090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5682996" y="26746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/home/claude/pptx_project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8803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363474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LUCIDCHART AI / AUTOMATED TO-BE PROCESS FLOW HERE ]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188720" y="4091939"/>
            <a:ext cx="9811512" cy="1003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area sized for a full-page Lucidchart export (PNG/SVG)</a:t>
            </a:r>
          </a:p>
          <a:p>
            <a:pPr marL="0" indent="0" algn="ctr">
              <a:buNone/>
            </a:pPr>
            <a:r>
              <a:rPr lang="en-US" sz="11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look at the pdf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provides decision-support recommendations; final lending decisions remain with authorized human reviewers.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5471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Financial Risk Classification &amp; Process Automation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AI, Automation &amp; Human Responsibilities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AI and automation support the decision; people own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575304" cy="3520440"/>
          </a:xfrm>
          <a:prstGeom prst="roundRect">
            <a:avLst>
              <a:gd name="adj" fmla="val 2338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3575304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783080"/>
            <a:ext cx="3575304" cy="4114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pptx_project/icons/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58648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417320"/>
            <a:ext cx="2478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293522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classification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 identification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06824" y="1417320"/>
            <a:ext cx="3575304" cy="3520440"/>
          </a:xfrm>
          <a:prstGeom prst="roundRect">
            <a:avLst>
              <a:gd name="adj" fmla="val 2338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06824" y="1417320"/>
            <a:ext cx="3575304" cy="777240"/>
          </a:xfrm>
          <a:prstGeom prst="roundRect">
            <a:avLst>
              <a:gd name="adj" fmla="val 10588"/>
            </a:avLst>
          </a:prstGeom>
          <a:solidFill>
            <a:srgbClr val="028090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1783080"/>
            <a:ext cx="3575304" cy="41148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3" name="Image 1" descr="/home/claude/pptx_project/icons/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58648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66944" y="1417320"/>
            <a:ext cx="2478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72584" y="2423160"/>
            <a:ext cx="293522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Missing-data detection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routing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6448" y="1417320"/>
            <a:ext cx="3575304" cy="3520440"/>
          </a:xfrm>
          <a:prstGeom prst="roundRect">
            <a:avLst>
              <a:gd name="adj" fmla="val 2338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56448" y="1417320"/>
            <a:ext cx="3575304" cy="777240"/>
          </a:xfrm>
          <a:prstGeom prst="roundRect">
            <a:avLst>
              <a:gd name="adj" fmla="val 10588"/>
            </a:avLst>
          </a:prstGeom>
          <a:solidFill>
            <a:srgbClr val="5C6B84"/>
          </a:solidFill>
          <a:ln/>
        </p:spPr>
      </p:sp>
      <p:sp>
        <p:nvSpPr>
          <p:cNvPr id="18" name="Shape 14"/>
          <p:cNvSpPr/>
          <p:nvPr/>
        </p:nvSpPr>
        <p:spPr>
          <a:xfrm>
            <a:off x="8156448" y="1783080"/>
            <a:ext cx="3575304" cy="411480"/>
          </a:xfrm>
          <a:prstGeom prst="rect">
            <a:avLst/>
          </a:prstGeom>
          <a:solidFill>
            <a:srgbClr val="5C6B84"/>
          </a:solidFill>
          <a:ln/>
        </p:spPr>
      </p:sp>
      <p:pic>
        <p:nvPicPr>
          <p:cNvPr id="19" name="Image 2" descr="/home/claude/pptx_project/icons/user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586484"/>
            <a:ext cx="438912" cy="4389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116568" y="1417320"/>
            <a:ext cx="2478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522208" y="2423160"/>
            <a:ext cx="293522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AI recommendation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/ revise recommendation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/ rejection decision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5193792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40080" y="5193792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automation generate recommendations — the human reviewer always makes the final decision.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7200" y="65471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Financial Risk Classification &amp; Process Automation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Value &amp; Proposed KPIs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Anticipated benefits and metrics to track post-implementation — no results yet, as no model has been built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4709160"/>
          </a:xfrm>
          <a:prstGeom prst="roundRect">
            <a:avLst>
              <a:gd name="adj" fmla="val 1748"/>
            </a:avLst>
          </a:prstGeom>
          <a:solidFill>
            <a:srgbClr val="F5F9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367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x_project/icons/tr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59" y="177283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Benefits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95528" y="241401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9" name="Image 1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2488082"/>
            <a:ext cx="181051" cy="1810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3774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manual effort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95528" y="292150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2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2995574"/>
            <a:ext cx="181051" cy="18105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8849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initial application screening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95528" y="342900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5" name="Image 3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3503066"/>
            <a:ext cx="181051" cy="18105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392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risk prioritization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95528" y="3936492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8" name="Image 4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4010558"/>
            <a:ext cx="181051" cy="18105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34440" y="38999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consistency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795528" y="44439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1" name="Image 5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4518050"/>
            <a:ext cx="181051" cy="181051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34440" y="4407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transparency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795528" y="495147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4" name="Image 6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5025542"/>
            <a:ext cx="181051" cy="181051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234440" y="49149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auditability</a:t>
            </a:r>
            <a:endParaRPr lang="en-US" sz="1250" dirty="0"/>
          </a:p>
        </p:txBody>
      </p:sp>
      <p:sp>
        <p:nvSpPr>
          <p:cNvPr id="26" name="Shape 17"/>
          <p:cNvSpPr/>
          <p:nvPr/>
        </p:nvSpPr>
        <p:spPr>
          <a:xfrm>
            <a:off x="795528" y="54589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7" name="Image 7" descr="/home/claude/pptx_project/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" y="5533034"/>
            <a:ext cx="181051" cy="181051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34440" y="54223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loan officer productivity</a:t>
            </a:r>
            <a:endParaRPr lang="en-US" sz="1250" dirty="0"/>
          </a:p>
        </p:txBody>
      </p:sp>
      <p:sp>
        <p:nvSpPr>
          <p:cNvPr id="29" name="Shape 19"/>
          <p:cNvSpPr/>
          <p:nvPr/>
        </p:nvSpPr>
        <p:spPr>
          <a:xfrm>
            <a:off x="6199632" y="1417320"/>
            <a:ext cx="5532120" cy="4709160"/>
          </a:xfrm>
          <a:prstGeom prst="roundRect">
            <a:avLst>
              <a:gd name="adj" fmla="val 1748"/>
            </a:avLst>
          </a:prstGeom>
          <a:solidFill>
            <a:srgbClr val="1E2761"/>
          </a:solidFill>
          <a:ln/>
        </p:spPr>
      </p:sp>
      <p:sp>
        <p:nvSpPr>
          <p:cNvPr id="30" name="Shape 20"/>
          <p:cNvSpPr/>
          <p:nvPr/>
        </p:nvSpPr>
        <p:spPr>
          <a:xfrm>
            <a:off x="6510528" y="16367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8" descr="/home/claude/pptx_project/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91" y="1772839"/>
            <a:ext cx="294803" cy="294803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7205472" y="15819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KPIs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measured after implementation</a:t>
            </a:r>
            <a:endParaRPr lang="en-US" sz="1700" dirty="0"/>
          </a:p>
        </p:txBody>
      </p:sp>
      <p:sp>
        <p:nvSpPr>
          <p:cNvPr id="33" name="Shape 22"/>
          <p:cNvSpPr/>
          <p:nvPr/>
        </p:nvSpPr>
        <p:spPr>
          <a:xfrm>
            <a:off x="6565392" y="2468880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34" name="Shape 23"/>
          <p:cNvSpPr/>
          <p:nvPr/>
        </p:nvSpPr>
        <p:spPr>
          <a:xfrm>
            <a:off x="6766560" y="2633472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5" name="Text 24"/>
          <p:cNvSpPr/>
          <p:nvPr/>
        </p:nvSpPr>
        <p:spPr>
          <a:xfrm>
            <a:off x="7068312" y="246888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processing time</a:t>
            </a:r>
            <a:endParaRPr lang="en-US" sz="1200" dirty="0"/>
          </a:p>
        </p:txBody>
      </p:sp>
      <p:sp>
        <p:nvSpPr>
          <p:cNvPr id="36" name="Shape 25"/>
          <p:cNvSpPr/>
          <p:nvPr/>
        </p:nvSpPr>
        <p:spPr>
          <a:xfrm>
            <a:off x="6565392" y="3076956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37" name="Shape 26"/>
          <p:cNvSpPr/>
          <p:nvPr/>
        </p:nvSpPr>
        <p:spPr>
          <a:xfrm>
            <a:off x="6766560" y="3241548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8" name="Text 27"/>
          <p:cNvSpPr/>
          <p:nvPr/>
        </p:nvSpPr>
        <p:spPr>
          <a:xfrm>
            <a:off x="7068312" y="307695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time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565392" y="3685032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40" name="Shape 29"/>
          <p:cNvSpPr/>
          <p:nvPr/>
        </p:nvSpPr>
        <p:spPr>
          <a:xfrm>
            <a:off x="6766560" y="3849624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1" name="Text 30"/>
          <p:cNvSpPr/>
          <p:nvPr/>
        </p:nvSpPr>
        <p:spPr>
          <a:xfrm>
            <a:off x="7068312" y="368503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validation rate</a:t>
            </a:r>
            <a:endParaRPr lang="en-US" sz="1200" dirty="0"/>
          </a:p>
        </p:txBody>
      </p:sp>
      <p:sp>
        <p:nvSpPr>
          <p:cNvPr id="42" name="Shape 31"/>
          <p:cNvSpPr/>
          <p:nvPr/>
        </p:nvSpPr>
        <p:spPr>
          <a:xfrm>
            <a:off x="6565392" y="4293108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43" name="Shape 32"/>
          <p:cNvSpPr/>
          <p:nvPr/>
        </p:nvSpPr>
        <p:spPr>
          <a:xfrm>
            <a:off x="6766560" y="4457700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4" name="Text 33"/>
          <p:cNvSpPr/>
          <p:nvPr/>
        </p:nvSpPr>
        <p:spPr>
          <a:xfrm>
            <a:off x="7068312" y="429310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identification rate</a:t>
            </a:r>
            <a:endParaRPr lang="en-US" sz="1200" dirty="0"/>
          </a:p>
        </p:txBody>
      </p:sp>
      <p:sp>
        <p:nvSpPr>
          <p:cNvPr id="45" name="Shape 34"/>
          <p:cNvSpPr/>
          <p:nvPr/>
        </p:nvSpPr>
        <p:spPr>
          <a:xfrm>
            <a:off x="6565392" y="4901184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46" name="Shape 35"/>
          <p:cNvSpPr/>
          <p:nvPr/>
        </p:nvSpPr>
        <p:spPr>
          <a:xfrm>
            <a:off x="6766560" y="5065776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7" name="Text 36"/>
          <p:cNvSpPr/>
          <p:nvPr/>
        </p:nvSpPr>
        <p:spPr>
          <a:xfrm>
            <a:off x="7068312" y="4901184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rate</a:t>
            </a:r>
            <a:endParaRPr lang="en-US" sz="1200" dirty="0"/>
          </a:p>
        </p:txBody>
      </p:sp>
      <p:sp>
        <p:nvSpPr>
          <p:cNvPr id="48" name="Shape 37"/>
          <p:cNvSpPr/>
          <p:nvPr/>
        </p:nvSpPr>
        <p:spPr>
          <a:xfrm>
            <a:off x="6565392" y="5509260"/>
            <a:ext cx="4800600" cy="512064"/>
          </a:xfrm>
          <a:prstGeom prst="roundRect">
            <a:avLst>
              <a:gd name="adj" fmla="val 10714"/>
            </a:avLst>
          </a:prstGeom>
          <a:solidFill>
            <a:srgbClr val="141B49"/>
          </a:solidFill>
          <a:ln/>
        </p:spPr>
      </p:sp>
      <p:sp>
        <p:nvSpPr>
          <p:cNvPr id="49" name="Shape 38"/>
          <p:cNvSpPr/>
          <p:nvPr/>
        </p:nvSpPr>
        <p:spPr>
          <a:xfrm>
            <a:off x="6766560" y="5673852"/>
            <a:ext cx="18288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0" name="Text 39"/>
          <p:cNvSpPr/>
          <p:nvPr/>
        </p:nvSpPr>
        <p:spPr>
          <a:xfrm>
            <a:off x="7068312" y="55092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 override rate</a:t>
            </a:r>
            <a:endParaRPr lang="en-US" sz="1200" dirty="0"/>
          </a:p>
        </p:txBody>
      </p:sp>
      <p:sp>
        <p:nvSpPr>
          <p:cNvPr id="51" name="Text 40"/>
          <p:cNvSpPr/>
          <p:nvPr/>
        </p:nvSpPr>
        <p:spPr>
          <a:xfrm>
            <a:off x="457200" y="65471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Financial Risk Classification &amp; Process Automation</a:t>
            </a:r>
            <a:endParaRPr lang="en-US" sz="900" dirty="0"/>
          </a:p>
        </p:txBody>
      </p:sp>
      <p:sp>
        <p:nvSpPr>
          <p:cNvPr id="52" name="Text 41"/>
          <p:cNvSpPr/>
          <p:nvPr/>
        </p:nvSpPr>
        <p:spPr>
          <a:xfrm>
            <a:off x="11521440" y="6547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443</Words>
  <Application>Microsoft Office PowerPoint</Application>
  <PresentationFormat>Widescreen</PresentationFormat>
  <Paragraphs>119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Sunit Kumar</cp:lastModifiedBy>
  <cp:revision>2</cp:revision>
  <dcterms:created xsi:type="dcterms:W3CDTF">2026-08-13T12:43:24Z</dcterms:created>
  <dcterms:modified xsi:type="dcterms:W3CDTF">2026-08-13T12:53:37Z</dcterms:modified>
</cp:coreProperties>
</file>